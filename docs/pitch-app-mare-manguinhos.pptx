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Outfit ExtraBold"/>
      <p:bold r:id="rId17"/>
    </p:embeddedFont>
    <p:embeddedFont>
      <p:font typeface="Outfit Light"/>
      <p:regular r:id="rId18"/>
      <p:bold r:id="rId19"/>
    </p:embeddedFont>
    <p:embeddedFont>
      <p:font typeface="Outfit"/>
      <p:regular r:id="rId20"/>
      <p:bold r:id="rId21"/>
    </p:embeddedFont>
    <p:embeddedFont>
      <p:font typeface="Outfit SemiBold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utfit-regular.fntdata"/><Relationship Id="rId11" Type="http://schemas.openxmlformats.org/officeDocument/2006/relationships/slide" Target="slides/slide6.xml"/><Relationship Id="rId22" Type="http://schemas.openxmlformats.org/officeDocument/2006/relationships/font" Target="fonts/OutfitSemiBold-regular.fntdata"/><Relationship Id="rId10" Type="http://schemas.openxmlformats.org/officeDocument/2006/relationships/slide" Target="slides/slide5.xml"/><Relationship Id="rId21" Type="http://schemas.openxmlformats.org/officeDocument/2006/relationships/font" Target="fonts/Outfi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Outfit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utfitExtraBold-bold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utfitLight-bold.fntdata"/><Relationship Id="rId6" Type="http://schemas.openxmlformats.org/officeDocument/2006/relationships/slide" Target="slides/slide1.xml"/><Relationship Id="rId18" Type="http://schemas.openxmlformats.org/officeDocument/2006/relationships/font" Target="fonts/OutfitL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1" Type="http://schemas.openxmlformats.org/officeDocument/2006/relationships/image" Target="../media/image3.png"/><Relationship Id="rId10" Type="http://schemas.openxmlformats.org/officeDocument/2006/relationships/image" Target="../media/image12.png"/><Relationship Id="rId12" Type="http://schemas.openxmlformats.org/officeDocument/2006/relationships/image" Target="../media/image23.png"/><Relationship Id="rId9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24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9" Type="http://schemas.openxmlformats.org/officeDocument/2006/relationships/image" Target="../media/image18.png"/><Relationship Id="rId5" Type="http://schemas.openxmlformats.org/officeDocument/2006/relationships/image" Target="../media/image25.png"/><Relationship Id="rId6" Type="http://schemas.openxmlformats.org/officeDocument/2006/relationships/image" Target="../media/image19.png"/><Relationship Id="rId7" Type="http://schemas.openxmlformats.org/officeDocument/2006/relationships/image" Target="../media/image33.pn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10" Type="http://schemas.openxmlformats.org/officeDocument/2006/relationships/image" Target="../media/image30.png"/><Relationship Id="rId9" Type="http://schemas.openxmlformats.org/officeDocument/2006/relationships/image" Target="../media/image36.png"/><Relationship Id="rId5" Type="http://schemas.openxmlformats.org/officeDocument/2006/relationships/image" Target="../media/image31.png"/><Relationship Id="rId6" Type="http://schemas.openxmlformats.org/officeDocument/2006/relationships/image" Target="../media/image26.png"/><Relationship Id="rId7" Type="http://schemas.openxmlformats.org/officeDocument/2006/relationships/image" Target="../media/image29.png"/><Relationship Id="rId8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4.png"/><Relationship Id="rId5" Type="http://schemas.openxmlformats.org/officeDocument/2006/relationships/image" Target="../media/image27.png"/><Relationship Id="rId6" Type="http://schemas.openxmlformats.org/officeDocument/2006/relationships/image" Target="../media/image32.png"/><Relationship Id="rId7" Type="http://schemas.openxmlformats.org/officeDocument/2006/relationships/image" Target="../media/image3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3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9850" y="1475482"/>
            <a:ext cx="6972300" cy="390703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45606" y="1961257"/>
            <a:ext cx="63009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MARÉ DE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000" u="none" cap="none" strike="noStrike">
                <a:solidFill>
                  <a:srgbClr val="00E5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MANGUINHOS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95625" y="3828157"/>
            <a:ext cx="6000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D6F6"/>
                </a:solidFill>
                <a:latin typeface="Outfit"/>
                <a:ea typeface="Outfit"/>
                <a:cs typeface="Outfit"/>
                <a:sym typeface="Outfit"/>
              </a:rPr>
              <a:t>O "iFood da Maré" • Tradição no mar, inovação na entrega.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095625" y="4479577"/>
            <a:ext cx="6000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910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Solução Tecnológica para Impacto Social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C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771525" y="581025"/>
            <a:ext cx="534066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O Desafio de Manguinhos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81025" y="1514475"/>
            <a:ext cx="554069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E5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Venda Física Limitante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81025" y="1990725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A Associação de Pescadores enfrenta um gargalo crítico. A dependência de vendas "na hora" desvaloriza o produto e estrangula a receita da comunidade.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81025" y="3286125"/>
            <a:ext cx="554069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E5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Contas Atrasadas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81025" y="3762375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Dívidas fixas da sede ameaçam a operação. Precisamos de uma fonte de renda previsível para manter o espaço comunitário.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81025" y="5057775"/>
            <a:ext cx="554069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E5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Pressão Institucional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81025" y="5534025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A ONG "Rede Cidadania" exige prestação de contas rigorosa. O modelo atual em dinheiro vivo impede uma gestão transparente.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C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09762"/>
            <a:ext cx="5276850" cy="397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09762"/>
            <a:ext cx="5276850" cy="397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230028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971550" y="2871787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E5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O Perfil do Pescador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71550" y="3376612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A média de escolaridade é o ensino fundamental. Aplicativos complexos de gestão de estoque, como os usados em grandes restaurantes, geram frustração e rejeição imediata.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71550" y="4833498"/>
            <a:ext cx="449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B4D0"/>
                </a:solidFill>
                <a:latin typeface="Outfit"/>
                <a:ea typeface="Outfit"/>
                <a:cs typeface="Outfit"/>
                <a:sym typeface="Outfit"/>
              </a:rPr>
              <a:t>A regra é:</a:t>
            </a: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 </a:t>
            </a:r>
            <a:r>
              <a:rPr lang="en-US" sz="1500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Água do mar não</a:t>
            </a: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 combina</a:t>
            </a:r>
            <a:r>
              <a:rPr lang="en-US" sz="1500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 </a:t>
            </a: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com telas touch sensíveis.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230028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6724650" y="2871787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E5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 Rotina Offline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724650" y="3376612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Nossos associados passam de 2 a 3 dias em alto mar, </a:t>
            </a:r>
            <a:r>
              <a:rPr b="0" i="0" lang="en-US" sz="1500" u="none" cap="none" strike="noStrike">
                <a:solidFill>
                  <a:srgbClr val="A0B4D0"/>
                </a:solidFill>
                <a:latin typeface="Outfit"/>
                <a:ea typeface="Outfit"/>
                <a:cs typeface="Outfit"/>
                <a:sym typeface="Outfit"/>
              </a:rPr>
              <a:t>completamente sem sinal de internet</a:t>
            </a: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. O peixe dura até 3 dias no gelo após a captura.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724650" y="4433887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B4D0"/>
                </a:solidFill>
                <a:latin typeface="Outfit"/>
                <a:ea typeface="Outfit"/>
                <a:cs typeface="Outfit"/>
                <a:sym typeface="Outfit"/>
              </a:rPr>
              <a:t>O obstáculo:</a:t>
            </a: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 Como atualizar um catálogo online em tempo real se o produtor está desconectado?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O Abismo Digital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C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56469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581025" y="1756469"/>
            <a:ext cx="527685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rPr>
              <a:t>Um ecossistema exclusivo para pescados frescos, ligando o barco diretamente à mesa do consumidor, sem atravessadores.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66775" y="3139231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B4D0"/>
                </a:solidFill>
                <a:latin typeface="Outfit"/>
                <a:ea typeface="Outfit"/>
                <a:cs typeface="Outfit"/>
                <a:sym typeface="Outfit"/>
              </a:rPr>
              <a:t>App Estilo "iFood"</a:t>
            </a: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 focado exclusivamente na região e na comunidade local.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66775" y="3939331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B4D0"/>
                </a:solidFill>
                <a:latin typeface="Outfit"/>
                <a:ea typeface="Outfit"/>
                <a:cs typeface="Outfit"/>
                <a:sym typeface="Outfit"/>
              </a:rPr>
              <a:t>Vitrine Digital Viva</a:t>
            </a: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, atualizada organicamente à medida que os barcos se aproximam da costa.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66775" y="4739431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B4D0"/>
                </a:solidFill>
                <a:latin typeface="Outfit"/>
                <a:ea typeface="Outfit"/>
                <a:cs typeface="Outfit"/>
                <a:sym typeface="Outfit"/>
              </a:rPr>
              <a:t>Logística Simplificada</a:t>
            </a: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: Motoboys parceiros realizam as rotas, e o custo é repassado 100% ao cliente final.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66775" y="5539531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B4D0"/>
                </a:solidFill>
                <a:latin typeface="Outfit"/>
                <a:ea typeface="Outfit"/>
                <a:cs typeface="Outfit"/>
                <a:sym typeface="Outfit"/>
              </a:rPr>
              <a:t>Escoamento Garantido</a:t>
            </a: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 antes mesmo do barco atracar.</a:t>
            </a:r>
            <a:endParaRPr/>
          </a:p>
        </p:txBody>
      </p:sp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65994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81025" y="3139231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E5FF"/>
                </a:solidFill>
                <a:latin typeface="Outfit"/>
                <a:ea typeface="Outfit"/>
                <a:cs typeface="Outfit"/>
                <a:sym typeface="Outfit"/>
              </a:rPr>
              <a:t>→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81025" y="3939331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E5FF"/>
                </a:solidFill>
                <a:latin typeface="Outfit"/>
                <a:ea typeface="Outfit"/>
                <a:cs typeface="Outfit"/>
                <a:sym typeface="Outfit"/>
              </a:rPr>
              <a:t>→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81025" y="4739431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E5FF"/>
                </a:solidFill>
                <a:latin typeface="Outfit"/>
                <a:ea typeface="Outfit"/>
                <a:cs typeface="Outfit"/>
                <a:sym typeface="Outfit"/>
              </a:rPr>
              <a:t>→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81025" y="5539531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E5FF"/>
                </a:solidFill>
                <a:latin typeface="Outfit"/>
                <a:ea typeface="Outfit"/>
                <a:cs typeface="Outfit"/>
                <a:sym typeface="Outfit"/>
              </a:rPr>
              <a:t>→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 Solução: </a:t>
            </a:r>
            <a:r>
              <a:rPr b="1" i="0" lang="en-US" sz="3450" u="none" cap="none" strike="noStrike">
                <a:solidFill>
                  <a:srgbClr val="00E5FF"/>
                </a:solidFill>
                <a:latin typeface="Outfit"/>
                <a:ea typeface="Outfit"/>
                <a:cs typeface="Outfit"/>
                <a:sym typeface="Outfit"/>
              </a:rPr>
              <a:t>Delivery Hiperlocal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C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44948"/>
            <a:ext cx="3486150" cy="395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444948"/>
            <a:ext cx="3486150" cy="395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444948"/>
            <a:ext cx="3486150" cy="395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835473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876300" y="3835598"/>
            <a:ext cx="189523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1. Áudio &amp; Foto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76300" y="4340423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Assim que pega sinal, o pescador envia um áudio para o bot da Associação: </a:t>
            </a:r>
            <a:r>
              <a:rPr b="0" i="0" lang="en-US" sz="1500" u="none" cap="none" strike="noStrike">
                <a:solidFill>
                  <a:srgbClr val="FF9100"/>
                </a:solidFill>
                <a:latin typeface="Outfit Light"/>
                <a:ea typeface="Outfit Light"/>
                <a:cs typeface="Outfit Light"/>
                <a:sym typeface="Outfit Light"/>
              </a:rPr>
              <a:t>"Janjão, peguei 10kg de robalo e 5kg de polvo."</a:t>
            </a: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 e uma foto pelo WhatsApp.</a:t>
            </a:r>
            <a:endParaRPr/>
          </a:p>
        </p:txBody>
      </p:sp>
      <p:pic>
        <p:nvPicPr>
          <p:cNvPr descr="image.png" id="148" name="Google Shape;14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835473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4648200" y="3835598"/>
            <a:ext cx="267533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2. Processamento IA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4648200" y="4340423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O sistema </a:t>
            </a: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do PescApp </a:t>
            </a: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transcreve o áudio, identifica as espécies, quantidades e vincula as fotos ao perfil do pescador logado.</a:t>
            </a:r>
            <a:endParaRPr/>
          </a:p>
        </p:txBody>
      </p:sp>
      <p:pic>
        <p:nvPicPr>
          <p:cNvPr descr="image.png" id="151" name="Google Shape;15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835473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8420100" y="3835598"/>
            <a:ext cx="254531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3. Loja Digital Ativa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420100" y="4340423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Instantaneamente, o "cardápio" do pescador é criado ou atualizado no App dos clientes. Magia pura, zero curva de aprendizado.</a:t>
            </a:r>
            <a:endParaRPr/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85850" y="2987873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00600" y="298787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43925" y="2987873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771525" y="460176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UX Invisível: </a:t>
            </a:r>
            <a:r>
              <a:rPr b="1" i="0" lang="en-US" sz="3450" u="none" cap="none" strike="noStrike">
                <a:solidFill>
                  <a:srgbClr val="00E5FF"/>
                </a:solidFill>
                <a:latin typeface="Outfit"/>
                <a:ea typeface="Outfit"/>
                <a:cs typeface="Outfit"/>
                <a:sym typeface="Outfit"/>
              </a:rPr>
              <a:t>A Mágica do WhatsApp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81025" y="460176"/>
            <a:ext cx="47625" cy="5524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581025" y="1393626"/>
            <a:ext cx="11030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Não forçaremos o uso de um app complexo. O inventário é populado pela ferramenta que eles já dominam: o WhatsApp.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C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43100"/>
            <a:ext cx="3486150" cy="390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943100"/>
            <a:ext cx="3486150" cy="390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943100"/>
            <a:ext cx="3486150" cy="390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876300" y="3228975"/>
            <a:ext cx="274034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Módulo Cliente (App)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76300" y="3733800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Vitrine digital hiperlocal. Permite agendamento de entregas, escolha de cortes (inteiro, limpo, filé) e pagamento digital integrado.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4648200" y="3228975"/>
            <a:ext cx="304038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Módulo Pescador (WhatsApp)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4648200" y="4095750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O backoffice invisível. Sem senhas ou menus difíceis. Atualização de estoque e notificações de venda através de um Chatbot amigável.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8420100" y="3228975"/>
            <a:ext cx="304038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Módulo Gestão (Desktop)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420100" y="4095750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Painel de controle na Associação. Onde Janjão acompanha o fluxo de caixa, custos fixos e emite relatórios para a ONG.</a:t>
            </a:r>
            <a:endParaRPr/>
          </a:p>
        </p:txBody>
      </p:sp>
      <p:pic>
        <p:nvPicPr>
          <p:cNvPr descr="image.png" id="174" name="Google Shape;17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5850" y="2524125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29175" y="252412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43925" y="252412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O Ecossistema da Plataforma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C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47825"/>
            <a:ext cx="3486150" cy="449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647825"/>
            <a:ext cx="3486150" cy="449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647825"/>
            <a:ext cx="3486150" cy="449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34350" y="1657350"/>
            <a:ext cx="34671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50" y="1657350"/>
            <a:ext cx="34671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828675" y="3800475"/>
            <a:ext cx="314039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E5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B2C: Moradores Locais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828675" y="4229100"/>
            <a:ext cx="29908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Foco em idosos e famílias que valorizam a comodidade, buscam peixe fresco e já têm vínculo emocional com a comunidade de Manguinhos.</a:t>
            </a:r>
            <a:endParaRPr/>
          </a:p>
        </p:txBody>
      </p:sp>
      <p:pic>
        <p:nvPicPr>
          <p:cNvPr descr="image.png" id="191" name="Google Shape;191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62450" y="1657350"/>
            <a:ext cx="34671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4600575" y="3800475"/>
            <a:ext cx="314039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E5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B2C: Região Laranjeiras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4600575" y="4229100"/>
            <a:ext cx="2990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Ticket médio mais alto. Clientes dispostos a pagar um prêmio pela conveniência, origem sustentável e frescor extremo do produto.</a:t>
            </a:r>
            <a:endParaRPr/>
          </a:p>
        </p:txBody>
      </p:sp>
      <p:pic>
        <p:nvPicPr>
          <p:cNvPr descr="image.png" id="194" name="Google Shape;194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34525" y="2224087"/>
            <a:ext cx="6667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8372475" y="3800475"/>
            <a:ext cx="314039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E5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B2B: Restaurantes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8372475" y="4229100"/>
            <a:ext cx="29908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Módulo para negociação em volume e reservas programadas. Garantia de procedência local para o menu de estabelecimentos da região.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Público e Mercado Alvo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C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/>
          <p:nvPr/>
        </p:nvSpPr>
        <p:spPr>
          <a:xfrm>
            <a:off x="1333500" y="1409681"/>
            <a:ext cx="9525000" cy="992400"/>
          </a:xfrm>
          <a:prstGeom prst="roundRect">
            <a:avLst>
              <a:gd fmla="val 7782" name="adj"/>
            </a:avLst>
          </a:prstGeom>
          <a:solidFill>
            <a:srgbClr val="112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2095500" y="1647808"/>
            <a:ext cx="8524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Taxa Associativa Limitada</a:t>
            </a: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 Um percentual é retido a cada venda no app apenas até cobrir a cota fixa mensal do pescador na Associação de Manguinhos.</a:t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1333500" y="1409681"/>
            <a:ext cx="38100" cy="992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1333500" y="2626376"/>
            <a:ext cx="9525000" cy="1016100"/>
          </a:xfrm>
          <a:prstGeom prst="roundRect">
            <a:avLst>
              <a:gd fmla="val 7782" name="adj"/>
            </a:avLst>
          </a:prstGeom>
          <a:solidFill>
            <a:srgbClr val="112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2095500" y="2864493"/>
            <a:ext cx="8524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Lucro 100% após a Cota</a:t>
            </a: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 Atingiu o valor para pagar as contas atrasadas da Associação? A taxa zera. O pescador leva 100% do valor de suas vendas subsequentes.</a:t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1333500" y="2626376"/>
            <a:ext cx="38100" cy="10161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1333500" y="3895725"/>
            <a:ext cx="9525000" cy="1016100"/>
          </a:xfrm>
          <a:prstGeom prst="roundRect">
            <a:avLst>
              <a:gd fmla="val 7782" name="adj"/>
            </a:avLst>
          </a:prstGeom>
          <a:solidFill>
            <a:srgbClr val="112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2095500" y="4133850"/>
            <a:ext cx="8524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Logística Zero Custo</a:t>
            </a: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 O custo do motoboy parceiro é adicionado ao checkout e pago integralmente pelo cliente final, formato padrão de mercado.</a:t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1333500" y="3895725"/>
            <a:ext cx="38100" cy="1016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1333500" y="5175609"/>
            <a:ext cx="9525000" cy="1016100"/>
          </a:xfrm>
          <a:prstGeom prst="roundRect">
            <a:avLst>
              <a:gd fmla="val 7782" name="adj"/>
            </a:avLst>
          </a:prstGeom>
          <a:solidFill>
            <a:srgbClr val="112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2095500" y="5413741"/>
            <a:ext cx="8524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Liquidez e Confiança</a:t>
            </a: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 Pagamento digital no app, mas com a flexibilidade do pescador receber seu acerto em dinheiro físico no fim do dia na sede.</a:t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1333500" y="5175609"/>
            <a:ext cx="38100" cy="10161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6" name="Google Shape;21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9725" y="1764164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09725" y="3033521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09725" y="4281809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09725" y="5540632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 txBox="1"/>
          <p:nvPr/>
        </p:nvSpPr>
        <p:spPr>
          <a:xfrm>
            <a:off x="771525" y="370889"/>
            <a:ext cx="11381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Modelo de Negócios Justo e Viável</a:t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581025" y="370889"/>
            <a:ext cx="47700" cy="5526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C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6334125" y="1504950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910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Conta Centralizada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6334125" y="2009775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O fluxo de pagamentos digitais passa pela conta da Associação, garantindo retenção segura das taxas antes do repasse ao pescador.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6334125" y="3114675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E5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Dashboard para a ONG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6334125" y="3619500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Relatórios automáticos e incontestáveis de vendas, repasses e quitação de dívidas para a prestação de contas com a </a:t>
            </a:r>
            <a:r>
              <a:rPr b="0" i="0" lang="en-US" sz="1500" u="none" cap="none" strike="noStrike">
                <a:solidFill>
                  <a:srgbClr val="A0B4D0"/>
                </a:solidFill>
                <a:latin typeface="Outfit"/>
                <a:ea typeface="Outfit"/>
                <a:cs typeface="Outfit"/>
                <a:sym typeface="Outfit"/>
              </a:rPr>
              <a:t>Rede Cidadania</a:t>
            </a: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.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6334125" y="4724400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910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 Nova Sede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6334125" y="5229225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A previsibilidade financeira financiará a finalização da sede física, que abrigará projetos sociais de educação e cultura para os jovens.</a:t>
            </a:r>
            <a:endParaRPr/>
          </a:p>
        </p:txBody>
      </p:sp>
      <p:pic>
        <p:nvPicPr>
          <p:cNvPr id="233" name="Google Shape;23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1450" y="1915400"/>
            <a:ext cx="3733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/>
        </p:nvSpPr>
        <p:spPr>
          <a:xfrm>
            <a:off x="771525" y="571500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Além do Peixe: </a:t>
            </a:r>
            <a:r>
              <a:rPr b="1" i="0" lang="en-US" sz="3450" u="none" cap="none" strike="noStrike">
                <a:solidFill>
                  <a:srgbClr val="00E5FF"/>
                </a:solidFill>
                <a:latin typeface="Outfit"/>
                <a:ea typeface="Outfit"/>
                <a:cs typeface="Outfit"/>
                <a:sym typeface="Outfit"/>
              </a:rPr>
              <a:t>Impacto &amp; Gestão</a:t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581025" y="571500"/>
            <a:ext cx="47625" cy="5524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C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067175"/>
            <a:ext cx="110299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78600" y="4371975"/>
            <a:ext cx="2536775" cy="1746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60358" y="1757510"/>
            <a:ext cx="2536775" cy="19904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6967" y="4371975"/>
            <a:ext cx="2536775" cy="19904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64550" y="1810047"/>
            <a:ext cx="2536775" cy="1990427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 txBox="1"/>
          <p:nvPr/>
        </p:nvSpPr>
        <p:spPr>
          <a:xfrm>
            <a:off x="3278625" y="4581525"/>
            <a:ext cx="224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E5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Mês </a:t>
            </a:r>
            <a:r>
              <a:rPr lang="en-US" sz="1650">
                <a:solidFill>
                  <a:srgbClr val="00E5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2</a:t>
            </a:r>
            <a:r>
              <a:rPr b="0" i="0" lang="en-US" sz="1650" u="none" cap="none" strike="noStrike">
                <a:solidFill>
                  <a:srgbClr val="00E5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: MVP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3278625" y="4943475"/>
            <a:ext cx="21366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Lançamento do Bot de WhatsApp. Teste de captura de áudio/foto de estoque com grupo focado de 5 pescadores.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5060383" y="1957535"/>
            <a:ext cx="224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910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Mês </a:t>
            </a:r>
            <a:r>
              <a:rPr lang="en-US" sz="1650">
                <a:solidFill>
                  <a:srgbClr val="FF910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3</a:t>
            </a:r>
            <a:r>
              <a:rPr b="0" i="0" lang="en-US" sz="1650" u="none" cap="none" strike="noStrike">
                <a:solidFill>
                  <a:srgbClr val="FF910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: Onboarding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5060383" y="2319485"/>
            <a:ext cx="2136600" cy="13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Cadastro oficial de 25 pescadores ativos da Associação e configuração das regras de sazonalidade de preços no admin.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7396992" y="4581525"/>
            <a:ext cx="224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E5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Mês </a:t>
            </a:r>
            <a:r>
              <a:rPr lang="en-US" sz="1650">
                <a:solidFill>
                  <a:srgbClr val="00E5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4</a:t>
            </a:r>
            <a:r>
              <a:rPr b="0" i="0" lang="en-US" sz="1650" u="none" cap="none" strike="noStrike">
                <a:solidFill>
                  <a:srgbClr val="00E5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: Lançamento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7396992" y="4943475"/>
            <a:ext cx="2136600" cy="13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Abertura do App B2C. Campanhas de marketing direcionadas para moradores locais e condomínios de Laranjeiras.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9464575" y="2010072"/>
            <a:ext cx="224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910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Mês </a:t>
            </a:r>
            <a:r>
              <a:rPr lang="en-US" sz="1650">
                <a:solidFill>
                  <a:srgbClr val="FF910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4</a:t>
            </a:r>
            <a:r>
              <a:rPr b="0" i="0" lang="en-US" sz="1650" u="none" cap="none" strike="noStrike">
                <a:solidFill>
                  <a:srgbClr val="FF910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: B2B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9464575" y="2372022"/>
            <a:ext cx="2136725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Expansão do módulo empresarial. Captação ativa de restaurantes da região para compras recorrentes em volume.</a:t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1229462" y="39719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192C"/>
          </a:solidFill>
          <a:ln cap="flat" cmpd="sng" w="38100">
            <a:solidFill>
              <a:srgbClr val="FF9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5728796" y="39719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192C"/>
          </a:solidFill>
          <a:ln cap="flat" cmpd="sng" w="381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8039754" y="39719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192C"/>
          </a:solidFill>
          <a:ln cap="flat" cmpd="sng" w="38100">
            <a:solidFill>
              <a:srgbClr val="FF9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10228138" y="39719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192C"/>
          </a:solidFill>
          <a:ln cap="flat" cmpd="sng" w="381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Próximos Passos (Roadmap)</a:t>
            </a:r>
            <a:endParaRPr/>
          </a:p>
        </p:txBody>
      </p:sp>
      <p:sp>
        <p:nvSpPr>
          <p:cNvPr id="259" name="Google Shape;259;p22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3678387" y="39719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192C"/>
          </a:solidFill>
          <a:ln cap="flat" cmpd="sng" w="38100">
            <a:solidFill>
              <a:srgbClr val="FF9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1" name="Google Shape;26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1984175"/>
            <a:ext cx="2536775" cy="1746646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2"/>
          <p:cNvSpPr txBox="1"/>
          <p:nvPr/>
        </p:nvSpPr>
        <p:spPr>
          <a:xfrm>
            <a:off x="971550" y="2555675"/>
            <a:ext cx="2136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0B4D0"/>
                </a:solidFill>
                <a:latin typeface="Outfit Light"/>
                <a:ea typeface="Outfit Light"/>
                <a:cs typeface="Outfit Light"/>
                <a:sym typeface="Outfit Light"/>
              </a:rPr>
              <a:t>Prototipação e validação do produto junto ao cliente.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971550" y="2193725"/>
            <a:ext cx="224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E5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Mês 1: </a:t>
            </a:r>
            <a:r>
              <a:rPr lang="en-US" sz="1650">
                <a:solidFill>
                  <a:srgbClr val="00E5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PROTOTIPAÇÃO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C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283047"/>
            <a:ext cx="11029950" cy="429190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3"/>
          <p:cNvSpPr txBox="1"/>
          <p:nvPr/>
        </p:nvSpPr>
        <p:spPr>
          <a:xfrm>
            <a:off x="915352" y="1864072"/>
            <a:ext cx="10361295" cy="192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E5FF"/>
                </a:solidFill>
                <a:latin typeface="Outfit"/>
                <a:ea typeface="Outfit"/>
                <a:cs typeface="Outfit"/>
                <a:sym typeface="Outfit"/>
              </a:rPr>
              <a:t>Vamos Transformar Manguinhos?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1162050" y="3978622"/>
            <a:ext cx="9867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CCD6F6"/>
                </a:solidFill>
                <a:latin typeface="Outfit Light"/>
                <a:ea typeface="Outfit Light"/>
                <a:cs typeface="Outfit Light"/>
                <a:sym typeface="Outfit Light"/>
              </a:rPr>
              <a:t>A tecnologia a favor da tradição.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